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082" y="476250"/>
            <a:ext cx="2865834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4271" y="904875"/>
            <a:ext cx="5163457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0" i="0" u="none">
                <a:solidFill>
                  <a:srgbClr val="0F172A"/>
                </a:solidFill>
                <a:latin typeface="Plus Jakarta Sans ExtraBold"/>
              </a:rPr>
              <a:t>행복은 과학입니다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1834455"/>
            <a:ext cx="80962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연세대 심리학과 서은국 교수의 진화심리학 및 뇌과학 연구로 밝혀낸 행복의 생물학적 본질과 수리적 모델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957" y="552450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248" y="476250"/>
            <a:ext cx="977503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72972" y="904875"/>
            <a:ext cx="344605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 u="none">
                <a:solidFill>
                  <a:srgbClr val="0F172A"/>
                </a:solidFill>
                <a:latin typeface="Plus Jakarta Sans ExtraBold"/>
              </a:rPr>
              <a:t>행복의 재정의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5846" y="1781175"/>
            <a:ext cx="5320307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관념적 철학에서 생물학적 메커니즘으로의 패러다임 전환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123" y="552450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72100" cy="1870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50802"/>
            <a:ext cx="5372100" cy="1870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165127"/>
            <a:ext cx="4980622" cy="304800"/>
          </a:xfrm>
          <a:prstGeom prst="rect">
            <a:avLst/>
          </a:prstGeom>
          <a:noFill/>
        </p:spPr>
        <p:txBody>
          <a:bodyPr wrap="square" lIns="254049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Plus Jakarta Sans ExtraBold"/>
              </a:rPr>
              <a:t>관념의 오류: 마음먹기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84227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추울 때 생각을 바꾼다고 체온이 상승하지 않듯, 행복은 관념이나 의지(Effort)의 교정만으로 도달할 수 없습니다. 생각을 바꾸는 것은 일시적 아스피린 효과일 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65127"/>
            <a:ext cx="4980622" cy="304800"/>
          </a:xfrm>
          <a:prstGeom prst="rect">
            <a:avLst/>
          </a:prstGeom>
          <a:noFill/>
        </p:spPr>
        <p:txBody>
          <a:bodyPr wrap="square" lIns="254049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Plus Jakarta Sans ExtraBold"/>
              </a:rPr>
              <a:t>과학적 본질: 쾌(Pleasure)의 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84227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행복은 일상에서 경험하는 신체적·정신적 즐거움의 총합입니다. 뇌가 생존에 유용한 자극을 접할 때 켜지는 긍정적 정서 신호 체계입니다.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203227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203227"/>
            <a:ext cx="177849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행복에 대한 관념의 오류 vs 본질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5531"/>
            <a:ext cx="11049000" cy="5857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59918"/>
            <a:ext cx="3333750" cy="2066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0" y="2526506"/>
            <a:ext cx="7048500" cy="223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5130" y="3540918"/>
            <a:ext cx="1906488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>
                <a:solidFill>
                  <a:srgbClr val="FFFFFF"/>
                </a:solidFill>
                <a:latin typeface="Plus Jakarta Sans ExtraBold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3284" y="4588668"/>
            <a:ext cx="145003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0E7FF"/>
                </a:solidFill>
                <a:latin typeface="Plus Jakarta Sans SemiBold"/>
              </a:rPr>
              <a:t>유전적 Set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0" y="3473350"/>
            <a:ext cx="770096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0" i="0" u="none">
                <a:solidFill>
                  <a:srgbClr val="0F172A"/>
                </a:solidFill>
                <a:latin typeface="Plus Jakarta Sans ExtraBold"/>
              </a:rPr>
              <a:t>선천적 기질과 우연의 압도적 영향력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0" y="3721000"/>
            <a:ext cx="7334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행복감의 개인차($V_P$)는 선천적 외향성 기질($V_G$, ~50%)과 살면서 겪는 예측 불가능한 우연 요인($V_{\text{Chance}}$, ~45%)이 지배합니다.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0" y="4364831"/>
            <a:ext cx="7334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단순한 생각 교정이나 의지($V_{\text{Effort}}$)는 5% 미만에 불과하며, 일상 속 자극과 환경의 실질적 배치가 핵심입니다.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행복의 유전 및 변산 수리 공식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976437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4900" y="2128837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감정은 생존 도구: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행복과 정서는 삶의 궁극적 목적이 아니라, 생물학적 문제를 해결하기 위한 연장(Tool)입니다.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963167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4900" y="3115567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부정적 감정 (브레이크):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불안과 공포는 위험 상황에서 도망치거나 멈추게 만드는 후진 시스템입니다.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949898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4900" y="4102298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긍정적 감정 (가속 페달):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쾌감과 기쁨은 생존 자원을 향해 나아가도록 유도하는 가속 신호입니다.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839342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2607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81280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245965"/>
            <a:ext cx="133498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32695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19426"/>
            <a:ext cx="133498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진화론적 목적: 생존과 번식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248" y="476250"/>
            <a:ext cx="977503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5047" y="904875"/>
            <a:ext cx="524190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 u="none">
                <a:solidFill>
                  <a:srgbClr val="0F172A"/>
                </a:solidFill>
                <a:latin typeface="Plus Jakarta Sans ExtraBold"/>
              </a:rPr>
              <a:t>행복의 뇌과학과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3517" y="1781175"/>
            <a:ext cx="4004816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신경조절물질 메커니즘과 통합 수리 방정식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123" y="552450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5577"/>
            <a:ext cx="3530649" cy="2461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955577"/>
            <a:ext cx="3530649" cy="2461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955577"/>
            <a:ext cx="3530649" cy="24611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339" y="2336452"/>
            <a:ext cx="656332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231802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93665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ExtraBold"/>
              </a:rPr>
              <a:t>도파민 (가속 페달)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317652"/>
            <a:ext cx="29781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외부 자원을 탐색하고 "기대치 않은 보상"에 반응해 추구하게 만드는 동기부여 연료입니다.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974" y="3231802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974" y="393665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ExtraBold"/>
              </a:rPr>
              <a:t>세로토닌 (브레이크)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4317652"/>
            <a:ext cx="29781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현재 상태에 만족감과 평온을 제공하여 과도한 불안과 욕망을 조절하는 안정 장치입니다.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224" y="3231802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224" y="393665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ExtraBold"/>
              </a:rPr>
              <a:t>정서적 적응 (리셋)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317652"/>
            <a:ext cx="29781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새로운 자극 감지를 위해 뇌는 감정 신호를 빠르게 '0'으로 리셋시킵니다.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166" y="3355627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0416" y="3355627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9666" y="3355627"/>
            <a:ext cx="207466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뇌신경조절물질: 도파민과 세로토닌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행복의 과학적 통합 인포그래픽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1190625"/>
            <a:ext cx="5600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0" i="0" u="none">
                <a:solidFill>
                  <a:srgbClr val="0F172A"/>
                </a:solidFill>
                <a:latin typeface="Plus Jakarta Sans ExtraBold"/>
              </a:rPr>
              <a:t>행복 인포그래픽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43827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유전적 기질(S), 즐거움의 빈도($P_{\text{freq}}$), 양질의 인간관계($R$), 그리고 사회적 고립($C$) 간의 유기적 관계를 과학적으로 구조화한 시각 자료입니다.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61145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거창한 성취보다 소소한 즐거움을 자주 경험하는 구조가 최상의 정서적 안녕감을 가져다줍니다.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782442"/>
            <a:ext cx="11049000" cy="5790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934842"/>
            <a:ext cx="10668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Key Finding: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사회적 고립은 흡연, 음주, 비만보다 사망 위험에 더 치명적입니다. 인간의 뇌는 고립을 생존의 최대 위협으로 인식합니다.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82442"/>
            <a:ext cx="38100" cy="57909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사망 위험률 영향 비교 (65세 이상)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164" y="2059781"/>
            <a:ext cx="3267521" cy="3744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843807"/>
            <a:ext cx="11049000" cy="598140"/>
          </a:xfrm>
          <a:prstGeom prst="roundRect">
            <a:avLst>
              <a:gd name="adj" fmla="val 19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4900" y="2996207"/>
            <a:ext cx="103251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S (Set Point):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타고난 유전적 외향성과 기본 행복 수치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556248"/>
            <a:ext cx="11049000" cy="598140"/>
          </a:xfrm>
          <a:prstGeom prst="roundRect">
            <a:avLst>
              <a:gd name="adj" fmla="val 19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4900" y="3708648"/>
            <a:ext cx="103251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F / I (Frequency / Intensity):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즐거움의 강도(I)보다 경험의 빈도(F)가 핵심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268688"/>
            <a:ext cx="11049000" cy="598140"/>
          </a:xfrm>
          <a:prstGeom prst="roundRect">
            <a:avLst>
              <a:gd name="adj" fmla="val 19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4900" y="4421088"/>
            <a:ext cx="103251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R / C (Relationship / Isolation):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고립(C)을 낮추고 양질의 아군 관계(R)를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981128"/>
            <a:ext cx="11049000" cy="598140"/>
          </a:xfrm>
          <a:prstGeom prst="roundRect">
            <a:avLst>
              <a:gd name="adj" fmla="val 19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4900" y="5133528"/>
            <a:ext cx="103251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A (Adaptation):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익숙해짐과 감정 리셋에 따른 소멸 요인 차감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43242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14486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85730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56974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976116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688556"/>
            <a:ext cx="133498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400996"/>
            <a:ext cx="571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5113436"/>
            <a:ext cx="133498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종합 행복 수리 공식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976437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4900" y="2128837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최고의 자극원: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물건이나 성취와 달리 '사람'은 적응되지 않는 끊임없는 기쁨을 제공합니다.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963167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4900" y="3115567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양질의 아군: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수단적 목적의 대인관계가 아닌, 함께 웃고 즐길 수 있는 편안한 관계가 핵심입니다.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949898"/>
            <a:ext cx="5372100" cy="87243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4900" y="4102298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소소한 빈도: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좋아하는 사람과 맛있는 음식을 자주 먹는 것이 가장 과학적인 행복 전략입니다.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839342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2607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81280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245965"/>
            <a:ext cx="133498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32695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19426"/>
            <a:ext cx="133498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최강의 행복 스위치: 양질의 사람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544" y="476250"/>
            <a:ext cx="185291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705" y="2499270"/>
            <a:ext cx="6338441" cy="447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904875"/>
            <a:ext cx="1160145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0" i="0" u="none">
                <a:solidFill>
                  <a:srgbClr val="0F172A"/>
                </a:solidFill>
                <a:latin typeface="Plus Jakarta Sans ExtraBold"/>
              </a:rPr>
              <a:t>"행복은 강도가 아니라 빈도입니다"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752600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6366F1"/>
                </a:solidFill>
                <a:latin typeface="Plus Jakarta Sans SemiBold"/>
              </a:rPr>
              <a:t>나만의 소소한 즐거움 카드를 늘리고, 좋은 사람과 자주 기쁨을 나누세요.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419" y="552450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0705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6483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49934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https://png.pngtree.com/thumb_back/fw800/background/20251224/pngtree-human-brain-made-of-glowing-blue-and-purple-network-connections-with-image_20912641.webp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29565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4037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34705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https://static.vecteezy.com/system/resources/thumbnails/076/419/617/small/two-happy-female-friends-talking-and-drinking-coffee-on-sofa-at-home-young-women-sharing-a-conversation-and-laughing-in-a-bright-living-room-concept-of-friendship-connection-and-cozy-lifestyle-photo.jpg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7851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578</Words>
  <Application>Microsoft Office PowerPoint</Application>
  <PresentationFormat>와이드스크린</PresentationFormat>
  <Paragraphs>50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Plus Jakarta Sans</vt:lpstr>
      <vt:lpstr>Plus Jakarta Sans ExtraBold</vt:lpstr>
      <vt:lpstr>Plus Jakarta Sans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sun jong choi</cp:lastModifiedBy>
  <cp:revision>2</cp:revision>
  <dcterms:created xsi:type="dcterms:W3CDTF">2013-01-27T09:14:16Z</dcterms:created>
  <dcterms:modified xsi:type="dcterms:W3CDTF">2026-08-06T00:29:22Z</dcterms:modified>
  <cp:category/>
</cp:coreProperties>
</file>