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28" y="447675"/>
            <a:ext cx="3143994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79764" y="857250"/>
            <a:ext cx="4832322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75"/>
              </a:lnSpc>
            </a:pPr>
            <a:r>
              <a:rPr sz="4500" b="0" i="0" u="none">
                <a:solidFill>
                  <a:srgbClr val="F8FAFC"/>
                </a:solidFill>
                <a:latin typeface="Plus Jakarta Sans ExtraBold"/>
              </a:rPr>
              <a:t>행복은 과학입니다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1704975"/>
            <a:ext cx="81915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575" b="0" i="0" u="none">
                <a:solidFill>
                  <a:srgbClr val="94A3B8"/>
                </a:solidFill>
                <a:latin typeface="Plus Jakarta Sans"/>
              </a:rPr>
              <a:t>연세대 심리학과 서은국 교수의 진화심리학·뇌과학 연구로 본 행복의 3대 메커니즘과 수리적 구조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853" y="523875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623839"/>
            <a:ext cx="3575000" cy="22627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623839"/>
            <a:ext cx="3575000" cy="22627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623839"/>
            <a:ext cx="3575149" cy="22627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519189"/>
            <a:ext cx="146804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3519189"/>
            <a:ext cx="1607641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100" y="3519189"/>
            <a:ext cx="1573559" cy="2190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2450" y="3736181"/>
            <a:ext cx="3555949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" y="2881014"/>
            <a:ext cx="3060650" cy="161925"/>
          </a:xfrm>
          <a:prstGeom prst="rect">
            <a:avLst/>
          </a:prstGeom>
          <a:noFill/>
        </p:spPr>
        <p:txBody>
          <a:bodyPr wrap="square" lIns="98524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818CF8"/>
                </a:solidFill>
                <a:latin typeface="Plus Jakarta Sans ExtraBold"/>
              </a:rPr>
              <a:t>DIMENSION 01 •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119139"/>
            <a:ext cx="32136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ExtraBold"/>
              </a:rPr>
              <a:t>주관적 안녕감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852564"/>
            <a:ext cx="30606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객관적 조건(소득, 명예, 평수)이 아닌 내가 내 삶에 대해 스스로 느끼는 만족도와 긍정적 정서의 총합입니다.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7950" y="3736181"/>
            <a:ext cx="3555949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5600" y="2881014"/>
            <a:ext cx="3060650" cy="161925"/>
          </a:xfrm>
          <a:prstGeom prst="rect">
            <a:avLst/>
          </a:prstGeom>
          <a:noFill/>
        </p:spPr>
        <p:txBody>
          <a:bodyPr wrap="square" lIns="98524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Plus Jakarta Sans ExtraBold"/>
              </a:rPr>
              <a:t>DIMENSION 02 • 지속장치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600" y="3119139"/>
            <a:ext cx="32136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ExtraBold"/>
              </a:rPr>
              <a:t>집단 속의 평온함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600" y="3852564"/>
            <a:ext cx="30606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뇌는 사회적 고립을 생존의 위협으로 봅니다. 안심할 수 있는 아군 집단 속 수용감에서 지속적 평온이 유지됩니다.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449" y="3736181"/>
            <a:ext cx="3556101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1100" y="2881014"/>
            <a:ext cx="3060799" cy="161925"/>
          </a:xfrm>
          <a:prstGeom prst="rect">
            <a:avLst/>
          </a:prstGeom>
          <a:noFill/>
        </p:spPr>
        <p:txBody>
          <a:bodyPr wrap="square" lIns="98524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BBF24"/>
                </a:solidFill>
                <a:latin typeface="Plus Jakarta Sans ExtraBold"/>
              </a:rPr>
              <a:t>DIMENSION 03 • 점화스위치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100" y="3119139"/>
            <a:ext cx="321383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ExtraBold"/>
              </a:rPr>
              <a:t>기대치 않은 소소한 재미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100" y="3852564"/>
            <a:ext cx="3060799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뇌는 예측 가능한 보상보다 '뜻밖의 소소한 재미'에서 도파민 전구를 강하게 켭니다. 핵심은 강도가 아닌 빈도입니다.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900064"/>
            <a:ext cx="98524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5600" y="2900064"/>
            <a:ext cx="98524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100" y="2900064"/>
            <a:ext cx="98524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행복의 3대 차원 시각화 (Dimensional Framework)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075408"/>
            <a:ext cx="11106150" cy="6509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942" y="2237333"/>
            <a:ext cx="3008114" cy="3271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935932"/>
            <a:ext cx="11106150" cy="529530"/>
          </a:xfrm>
          <a:prstGeom prst="roundRect">
            <a:avLst>
              <a:gd name="adj" fmla="val 25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8225" y="3069282"/>
            <a:ext cx="10439400" cy="262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S (Set Point / 유전):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타고난 선천적 기질과 외향성의 기본 수치 (~50%)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925" y="3560712"/>
            <a:ext cx="11106150" cy="529530"/>
          </a:xfrm>
          <a:prstGeom prst="roundRect">
            <a:avLst>
              <a:gd name="adj" fmla="val 25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8225" y="3694062"/>
            <a:ext cx="10439400" cy="262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F / I (Frequency / Intensity):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한 방의 큰 강도(I)보다 소소한 경험의 자주 발생(F)이 주동력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925" y="4185493"/>
            <a:ext cx="11106150" cy="529530"/>
          </a:xfrm>
          <a:prstGeom prst="roundRect">
            <a:avLst>
              <a:gd name="adj" fmla="val 25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8225" y="4318843"/>
            <a:ext cx="10439400" cy="262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R / C (Relationship / Isolation):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고립(C)을 축소하고 정서적 아군 관계(R)를 지속화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925" y="4810273"/>
            <a:ext cx="11106150" cy="529530"/>
          </a:xfrm>
          <a:prstGeom prst="roundRect">
            <a:avLst>
              <a:gd name="adj" fmla="val 25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225" y="4943623"/>
            <a:ext cx="10439400" cy="262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A (Adaptation / 적응):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성취나 물건의 효과가 익숙해짐에 따라 '0'으로 리셋되는 차감 요인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2925" y="3455937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080718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2925" y="4705498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5330279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048297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673078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297858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4922639"/>
            <a:ext cx="118616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행복의 종합 수리 방정식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155" y="2040731"/>
            <a:ext cx="4975919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040731"/>
            <a:ext cx="531108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680" y="2050256"/>
            <a:ext cx="4956869" cy="34099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2925" y="2231231"/>
            <a:ext cx="5863530" cy="773310"/>
          </a:xfrm>
          <a:prstGeom prst="roundRect">
            <a:avLst>
              <a:gd name="adj" fmla="val 1724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8225" y="2364581"/>
            <a:ext cx="519678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도파민 (가속 페달):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희망과 추구의 Neuromodulator. 기대치 않은 소소한 보상에서 폭발 분비됩니다.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925" y="3099792"/>
            <a:ext cx="5863530" cy="773310"/>
          </a:xfrm>
          <a:prstGeom prst="roundRect">
            <a:avLst>
              <a:gd name="adj" fmla="val 1724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8225" y="3233142"/>
            <a:ext cx="519678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세로토닌 (브레이크):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집단 속에서의 안정감과 평온함. 과도한 불안과 욕망을 다스리는 안정 장치입니다.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" y="2995017"/>
            <a:ext cx="5863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863578"/>
            <a:ext cx="5863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2465486"/>
            <a:ext cx="118616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334047"/>
            <a:ext cx="118616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신경조절물질: 도파민 vs 세로토닌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3193405"/>
            <a:ext cx="304800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244" y="2611933"/>
            <a:ext cx="6475511" cy="20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8930" y="3536305"/>
            <a:ext cx="171583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0" i="0" u="none">
                <a:solidFill>
                  <a:srgbClr val="FFFFFF"/>
                </a:solidFill>
                <a:latin typeface="Plus Jakarta Sans ExtraBold"/>
              </a:rP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351" y="4488805"/>
            <a:ext cx="146699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E0E7FF"/>
                </a:solidFill>
                <a:latin typeface="Plus Jakarta Sans SemiBold"/>
              </a:rPr>
              <a:t>유전적 외향성 기질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3825" y="3437483"/>
            <a:ext cx="81010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0" i="0" u="none">
                <a:solidFill>
                  <a:srgbClr val="F8FAFC"/>
                </a:solidFill>
                <a:latin typeface="Plus Jakarta Sans ExtraBold"/>
              </a:rPr>
              <a:t>단일 유전 요인 vs 수만 가지 우연의 대결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3825" y="3685133"/>
            <a:ext cx="7715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행복감의 개인차($V_P$)는 선천적 외향성 기질($V_G$, ~50%)과 살면서 겪는 예측 불가능한 우연 요인($V_{\text{Chance}}$, ~45%)이 지배합니다.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3825" y="4298305"/>
            <a:ext cx="77152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손뼉 치기나 의지($V_{\text{Effort}}$) 같은 수동적 노력은 5% 미만이며, 우연의 장에서 즐거운 자극을 자주 배치하는 환경 설계가 핵심입니다.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유전과 우연의 변산 분해 공식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890539"/>
            <a:ext cx="5419725" cy="17293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890539"/>
            <a:ext cx="5419725" cy="1729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3166764"/>
            <a:ext cx="5110638" cy="285750"/>
          </a:xfrm>
          <a:prstGeom prst="rect">
            <a:avLst/>
          </a:prstGeom>
          <a:noFill/>
        </p:spPr>
        <p:txBody>
          <a:bodyPr wrap="square" lIns="23931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lus Jakarta Sans ExtraBold"/>
              </a:rPr>
              <a:t>관념의 오류: 마음먹기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566814"/>
            <a:ext cx="48672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추울 때 생각을 바꾼다고 체온이 상승하지 않듯, 행복은 마음이나 의지의 교정만으로 도달할 수 없습니다. 생각 교정은 일시적 아스피린 효과일 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3166764"/>
            <a:ext cx="5110638" cy="285750"/>
          </a:xfrm>
          <a:prstGeom prst="rect">
            <a:avLst/>
          </a:prstGeom>
          <a:noFill/>
        </p:spPr>
        <p:txBody>
          <a:bodyPr wrap="square" lIns="23931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lus Jakarta Sans ExtraBold"/>
              </a:rPr>
              <a:t>과학적 본질: 쾌(Pleasure)의 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566814"/>
            <a:ext cx="48672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행복은 일상에서 경험하는 신체적·정신적 즐거움의 총합입니다. 뇌가 생존에 유용한 자극을 접할 때 켜지는 생물학적 긍정 정서 신호 체계입니다.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204864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204864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관념의 오류 vs 과학적 본질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00137"/>
            <a:ext cx="11106150" cy="53101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2925" y="4654450"/>
            <a:ext cx="11106150" cy="5256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3425" y="4787800"/>
            <a:ext cx="107251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Key Insight: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사회적 고립은 흡연, 음주, 비만보다 사망 위험에 더 치명적입니다. 뇌는 고립을 생존의 최대 비상사태로 인지합니다.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925" y="4654450"/>
            <a:ext cx="38100" cy="5256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사망 위험률 영향 비교 (65세 이상)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2925" y="447675"/>
            <a:ext cx="5630703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진화적 생존 무기: 상호협동성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2925" y="1100137"/>
            <a:ext cx="56307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0" i="0" u="none">
                <a:solidFill>
                  <a:srgbClr val="F8FAFC"/>
                </a:solidFill>
                <a:latin typeface="Plus Jakarta Sans ExtraBold"/>
              </a:rPr>
              <a:t>초사회성(Ultra-sociality)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1347787"/>
            <a:ext cx="5362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호모 사피엔스가 사자나 네안데르탈인을 제치고 지구를 정복한 무기는 신체 능력이 아닌 '혈연을 넘어선 대규모 상호협력'이었습니다.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865709"/>
            <a:ext cx="5362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뇌는 여전히 아군과의 협력을 생존의 신호로 해석하며, 양질의 관계 속에서 세로토닌과 도파민 전구를 가장 안정적으로 구동시킵니다.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040731"/>
            <a:ext cx="541972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50256"/>
            <a:ext cx="5400675" cy="3409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040731"/>
            <a:ext cx="5419725" cy="773310"/>
          </a:xfrm>
          <a:prstGeom prst="roundRect">
            <a:avLst>
              <a:gd name="adj" fmla="val 1724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8225" y="2174081"/>
            <a:ext cx="4752975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적응되지 않는 자극: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물건이나 성공과 달리 '사람'은 끊임없이 다채로운 자극을 주어 쉽게 적응되지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925" y="2909292"/>
            <a:ext cx="5419725" cy="773310"/>
          </a:xfrm>
          <a:prstGeom prst="roundRect">
            <a:avLst>
              <a:gd name="adj" fmla="val 1724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8225" y="3042642"/>
            <a:ext cx="4752975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비조건적 편안함: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수단적·비교 목적의 대인관계가 아닌, 마음 놓고 수다 끌 수 있는 '아군'이 핵심입니다.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925" y="3777853"/>
            <a:ext cx="5419725" cy="773310"/>
          </a:xfrm>
          <a:prstGeom prst="roundRect">
            <a:avLst>
              <a:gd name="adj" fmla="val 1724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8225" y="3911203"/>
            <a:ext cx="4752975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소소한 빈도: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좋아하는 사람과 맛있는 음식을 자주 먹는 것이 가장 과학적인 행복 전략입니다.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2804517"/>
            <a:ext cx="5419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673078"/>
            <a:ext cx="5419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4541639"/>
            <a:ext cx="5419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274986"/>
            <a:ext cx="118616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143547"/>
            <a:ext cx="507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012108"/>
            <a:ext cx="118616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최강의 행복 스위치: 양질의 아군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258" y="447675"/>
            <a:ext cx="2059334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3809" y="857250"/>
            <a:ext cx="754438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8FAFC"/>
                </a:solidFill>
                <a:latin typeface="Plus Jakarta Sans ExtraBold"/>
              </a:rPr>
              <a:t>행복은 강도가 아니라 빈도입니다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9944" y="1657350"/>
            <a:ext cx="641211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575" b="0" i="0" u="none">
                <a:solidFill>
                  <a:srgbClr val="94A3B8"/>
                </a:solidFill>
                <a:latin typeface="Plus Jakarta Sans"/>
              </a:rPr>
              <a:t>나만의 소소한 즐거움 옵션을 늘리고, 좋은 사람과 기쁨을 자주 나누세요.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183" y="523875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080" y="447675"/>
            <a:ext cx="1569839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397" y="2325885"/>
            <a:ext cx="6019055" cy="43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1462" y="857250"/>
            <a:ext cx="11649075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0" i="0" u="none">
                <a:solidFill>
                  <a:srgbClr val="F8FAFC"/>
                </a:solidFill>
                <a:latin typeface="Plus Jakarta Sans ExtraBold"/>
              </a:rPr>
              <a:t>"행복은 마음의 문제가 아니라 일상의 설계입니다"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647825"/>
            <a:ext cx="111061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818CF8"/>
                </a:solidFill>
                <a:latin typeface="Plus Jakarta Sans SemiBold"/>
              </a:rPr>
              <a:t>주관적 안녕감 + 집단 속 평온함 + 기대치 않은 소소한 재미의 선순환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005" y="523875"/>
            <a:ext cx="101203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2483792"/>
            <a:ext cx="111061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2925" y="3466653"/>
            <a:ext cx="111061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3457128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2925" y="3457128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4241899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4241899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73233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8300" y="2626667"/>
            <a:ext cx="100107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https://media.hswstatic.com/eyJidWNrZXQiOiJjb250ZW50Lmhzd3N0YXRpYy5jb20iLCJrZXkiOiJnaWZcL25ldXJvY2hlbWlzdHJ5LW9mLWhhcHBpbmVzcy5naWYiLCJlZGl0cyI6eyJyZXNpemUiOnsid2lkdGgiOjI5MH19fQ==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300" y="3070473"/>
            <a:ext cx="100107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science.howstuffworks.com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616076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38300" y="3609528"/>
            <a:ext cx="100107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https://png.pngtree.com/thumb_back/fw800/background/20251224/pngtree-human-brain-made-of-glowing-blue-and-purple-network-connections-with-image_20912641.webp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300" y="3855243"/>
            <a:ext cx="100107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40084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38300" y="4394299"/>
            <a:ext cx="100107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https://th.bing.com/th/id/OIGP.Jsyhjw6iSUadyloCOoyE?r=0&amp;pid=ImgDetMain&amp;o=7&amp;rm=3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4640014"/>
            <a:ext cx="100107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www2.bing.com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447675"/>
            <a:ext cx="11649075" cy="404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sz="2550" b="0" i="0" u="none">
                <a:solidFill>
                  <a:srgbClr val="F8FAFC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2925" y="852487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635</Words>
  <Application>Microsoft Office PowerPoint</Application>
  <PresentationFormat>와이드스크린</PresentationFormat>
  <Paragraphs>52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Plus Jakarta Sans</vt:lpstr>
      <vt:lpstr>Plus Jakarta Sans ExtraBold</vt:lpstr>
      <vt:lpstr>Plus Jakarta Sans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sun jong choi</cp:lastModifiedBy>
  <cp:revision>1</cp:revision>
  <dcterms:created xsi:type="dcterms:W3CDTF">2013-01-27T09:14:16Z</dcterms:created>
  <dcterms:modified xsi:type="dcterms:W3CDTF">2026-08-06T00:29:10Z</dcterms:modified>
  <cp:category/>
</cp:coreProperties>
</file>